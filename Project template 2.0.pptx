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8"/>
  </p:notesMasterIdLst>
  <p:sldIdLst>
    <p:sldId id="256" r:id="rId5"/>
    <p:sldId id="2146847054" r:id="rId6"/>
    <p:sldId id="262" r:id="rId7"/>
    <p:sldId id="263" r:id="rId8"/>
    <p:sldId id="265" r:id="rId9"/>
    <p:sldId id="266" r:id="rId10"/>
    <p:sldId id="2146847061" r:id="rId11"/>
    <p:sldId id="267" r:id="rId12"/>
    <p:sldId id="268" r:id="rId13"/>
    <p:sldId id="2146847055" r:id="rId14"/>
    <p:sldId id="269" r:id="rId15"/>
    <p:sldId id="2146847058" r:id="rId16"/>
    <p:sldId id="2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40" autoAdjust="0"/>
    <p:restoredTop sz="94660"/>
  </p:normalViewPr>
  <p:slideViewPr>
    <p:cSldViewPr snapToGrid="0">
      <p:cViewPr varScale="1">
        <p:scale>
          <a:sx n="61" d="100"/>
          <a:sy n="61" d="100"/>
        </p:scale>
        <p:origin x="68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15-01-2026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1/15/2026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1/15/2026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1/15/2026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1/15/2026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1/15/2026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1/15/2026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1/15/2026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1/15/2026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1/15/2026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1/15/2026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1/15/2026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kaggle.com/datasets/shudhanshusingh/250k-medicines-usage-side-effects-and-substitutes" TargetMode="External"/><Relationship Id="rId7" Type="http://schemas.openxmlformats.org/officeDocument/2006/relationships/hyperlink" Target="https://pmc.ncbi.nlm.nih.gov/articles/PMC7005290/" TargetMode="External"/><Relationship Id="rId2" Type="http://schemas.openxmlformats.org/officeDocument/2006/relationships/hyperlink" Target="https://www.kaggle.com/datasets/itachi9604/disease-symptom-description-dataset?select=dataset.csv" TargetMode="External"/><Relationship Id="rId1" Type="http://schemas.openxmlformats.org/officeDocument/2006/relationships/slideLayout" Target="../slideLayouts/slideLayout2.xml"/><Relationship Id="rId6" Type="http://schemas.openxmlformats.org/officeDocument/2006/relationships/hyperlink" Target="https://www.who.int/health-topics" TargetMode="External"/><Relationship Id="rId5" Type="http://schemas.openxmlformats.org/officeDocument/2006/relationships/hyperlink" Target="https://docs.streamlit.io/" TargetMode="External"/><Relationship Id="rId4" Type="http://schemas.openxmlformats.org/officeDocument/2006/relationships/hyperlink" Target="https://scikit-learn.org/stable/"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ai-healthcare-system-jaqgrqbayym7wsnbmvr4kf.streamlit.app/" TargetMode="External"/><Relationship Id="rId2" Type="http://schemas.openxmlformats.org/officeDocument/2006/relationships/hyperlink" Target="https://github.com/Rafkhan01/AI-healthcare-system.gi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168285" y="1590407"/>
            <a:ext cx="9855430" cy="944651"/>
          </a:xfrm>
        </p:spPr>
        <p:txBody>
          <a:bodyPr>
            <a:normAutofit fontScale="90000"/>
          </a:bodyPr>
          <a:lstStyle/>
          <a:p>
            <a:pPr algn="ctr"/>
            <a:r>
              <a:rPr lang="en-US" dirty="0">
                <a:solidFill>
                  <a:schemeClr val="accent1"/>
                </a:solidFill>
                <a:ea typeface="+mj-lt"/>
                <a:cs typeface="+mj-lt"/>
              </a:rPr>
              <a:t>AI-Based SYMPTOM SEVERITY ANALYZER &amp; INTELLIGENT MEDICINE RECOMMENDATION SYSTEM</a:t>
            </a:r>
            <a:endParaRPr lang="en-US" dirty="0">
              <a:solidFill>
                <a:schemeClr val="accent1"/>
              </a:solidFill>
            </a:endParaRPr>
          </a:p>
        </p:txBody>
      </p:sp>
      <p:sp>
        <p:nvSpPr>
          <p:cNvPr id="4" name="TextBox 3"/>
          <p:cNvSpPr txBox="1"/>
          <p:nvPr/>
        </p:nvSpPr>
        <p:spPr>
          <a:xfrm>
            <a:off x="2382389" y="4091714"/>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a:cs typeface="Arial"/>
              </a:rPr>
              <a:t>Presented By:</a:t>
            </a:r>
          </a:p>
          <a:p>
            <a:pPr marL="457200" indent="-457200">
              <a:buAutoNum type="arabicPeriod"/>
            </a:pPr>
            <a:r>
              <a:rPr lang="en-US" sz="2000" b="1" dirty="0">
                <a:solidFill>
                  <a:schemeClr val="accent1">
                    <a:lumMod val="75000"/>
                  </a:schemeClr>
                </a:solidFill>
                <a:latin typeface="Arial"/>
                <a:cs typeface="Arial"/>
              </a:rPr>
              <a:t>Student Name- </a:t>
            </a:r>
            <a:r>
              <a:rPr lang="en-US" sz="2000" b="1" dirty="0" err="1">
                <a:solidFill>
                  <a:schemeClr val="accent1">
                    <a:lumMod val="75000"/>
                  </a:schemeClr>
                </a:solidFill>
                <a:latin typeface="Arial"/>
                <a:cs typeface="Arial"/>
              </a:rPr>
              <a:t>Rafkhan</a:t>
            </a:r>
            <a:r>
              <a:rPr lang="en-US" sz="2000" b="1" dirty="0">
                <a:solidFill>
                  <a:schemeClr val="accent1">
                    <a:lumMod val="75000"/>
                  </a:schemeClr>
                </a:solidFill>
                <a:latin typeface="Arial"/>
                <a:cs typeface="Arial"/>
              </a:rPr>
              <a:t> B</a:t>
            </a:r>
          </a:p>
          <a:p>
            <a:pPr marL="457200" indent="-457200">
              <a:buAutoNum type="arabicPeriod"/>
            </a:pPr>
            <a:r>
              <a:rPr lang="en-US" sz="2000" b="1" dirty="0">
                <a:solidFill>
                  <a:schemeClr val="accent1">
                    <a:lumMod val="75000"/>
                  </a:schemeClr>
                </a:solidFill>
                <a:latin typeface="Arial"/>
                <a:cs typeface="Arial"/>
              </a:rPr>
              <a:t>College Name- UIT </a:t>
            </a:r>
            <a:r>
              <a:rPr lang="en-US" sz="2000" b="1" dirty="0" err="1">
                <a:solidFill>
                  <a:schemeClr val="accent1">
                    <a:lumMod val="75000"/>
                  </a:schemeClr>
                </a:solidFill>
                <a:latin typeface="Arial"/>
                <a:cs typeface="Arial"/>
              </a:rPr>
              <a:t>Neyyatinkara</a:t>
            </a:r>
            <a:r>
              <a:rPr lang="en-US" sz="2000" b="1" dirty="0">
                <a:solidFill>
                  <a:schemeClr val="accent1">
                    <a:lumMod val="75000"/>
                  </a:schemeClr>
                </a:solidFill>
                <a:latin typeface="Arial"/>
                <a:cs typeface="Arial"/>
              </a:rPr>
              <a:t>, TVM</a:t>
            </a:r>
            <a:endParaRPr lang="en-US" sz="2000" dirty="0">
              <a:solidFill>
                <a:schemeClr val="accent1">
                  <a:lumMod val="75000"/>
                </a:schemeClr>
              </a:solidFill>
              <a:ea typeface="+mn-lt"/>
              <a:cs typeface="+mn-lt"/>
            </a:endParaRPr>
          </a:p>
          <a:p>
            <a:pPr marL="457200" indent="-457200">
              <a:buAutoNum type="arabicPeriod"/>
            </a:pPr>
            <a:r>
              <a:rPr lang="en-US" sz="2000" b="1" dirty="0">
                <a:solidFill>
                  <a:schemeClr val="accent1">
                    <a:lumMod val="75000"/>
                  </a:schemeClr>
                </a:solidFill>
                <a:latin typeface="Arial"/>
                <a:cs typeface="Arial"/>
              </a:rPr>
              <a:t>Department- BSC Computer Science</a:t>
            </a:r>
            <a:endParaRPr lang="en-US" sz="2000" dirty="0">
              <a:solidFill>
                <a:schemeClr val="accent1">
                  <a:lumMod val="75000"/>
                </a:schemeClr>
              </a:solidFill>
              <a:ea typeface="+mn-lt"/>
              <a:cs typeface="+mn-lt"/>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26827" y="630570"/>
            <a:ext cx="10515067" cy="1012493"/>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50106" y="1569705"/>
            <a:ext cx="11007114" cy="4643438"/>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endParaRPr lang="en-US" sz="2000"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endParaRPr lang="en-US" sz="2000" dirty="0">
              <a:latin typeface="Arial"/>
              <a:ea typeface="+mn-lt"/>
              <a:cs typeface="+mn-lt"/>
            </a:endParaRPr>
          </a:p>
          <a:p>
            <a:pPr marL="305435" indent="-305435"/>
            <a:r>
              <a:rPr lang="en-US" sz="2000" b="1" dirty="0">
                <a:latin typeface="Arial"/>
                <a:ea typeface="+mn-lt"/>
                <a:cs typeface="+mn-lt"/>
              </a:rPr>
              <a:t>Algorithm &amp; Deployment  </a:t>
            </a:r>
          </a:p>
          <a:p>
            <a:pPr marL="305435" indent="-305435"/>
            <a:r>
              <a:rPr lang="en-US" sz="2000" b="1" dirty="0">
                <a:latin typeface="Arial"/>
                <a:ea typeface="+mn-lt"/>
                <a:cs typeface="+mn-lt"/>
              </a:rPr>
              <a:t>Datasets Used</a:t>
            </a:r>
            <a:endParaRPr lang="en-US" dirty="0">
              <a:latin typeface="Arial"/>
              <a:cs typeface="Calibri"/>
            </a:endParaRPr>
          </a:p>
          <a:p>
            <a:pPr marL="305435" indent="-305435"/>
            <a:r>
              <a:rPr lang="en-US" sz="2000" b="1" dirty="0">
                <a:latin typeface="Arial"/>
                <a:ea typeface="+mn-lt"/>
                <a:cs typeface="Arial"/>
              </a:rPr>
              <a:t>Result</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Many people experience health symptoms but are unable to identify the disease and its seriousness at an early stage. Due to lack of medical awareness, doctor availability, and cost, early diagnosis and timely treatment are delayed.</a:t>
            </a:r>
          </a:p>
          <a:p>
            <a:pPr marL="0" indent="0">
              <a:buNone/>
            </a:pPr>
            <a:r>
              <a:rPr lang="en-US" sz="2800" dirty="0">
                <a:latin typeface="Times New Roman" panose="02020603050405020304" pitchFamily="18" charset="0"/>
                <a:cs typeface="Times New Roman" panose="02020603050405020304" pitchFamily="18" charset="0"/>
              </a:rPr>
              <a:t>There is no integrated intelligent system that can :</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Analyze multiple symptoms</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Predict possible disease</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Assess severity level</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Suggest safe medicines and precautions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573839" y="1715369"/>
            <a:ext cx="11300109" cy="4440475"/>
          </a:xfrm>
        </p:spPr>
        <p:txBody>
          <a:bodyPr vert="horz" lIns="91440" tIns="45720" rIns="91440" bIns="45720" rtlCol="0" anchor="ctr">
            <a:noAutofit/>
          </a:bodyPr>
          <a:lstStyle/>
          <a:p>
            <a:pPr marL="0" indent="0">
              <a:buNone/>
            </a:pPr>
            <a:r>
              <a:rPr lang="en-US" sz="3200" dirty="0"/>
              <a:t>The proposed system is an AI-powered clinical decision support system that:</a:t>
            </a:r>
          </a:p>
          <a:p>
            <a:pPr lvl="1">
              <a:buFont typeface="Arial" panose="020B0604020202020204" pitchFamily="34" charset="0"/>
              <a:buChar char="•"/>
            </a:pPr>
            <a:r>
              <a:rPr lang="en-US" sz="2800" dirty="0"/>
              <a:t>Predicts diseases from symptom combinations</a:t>
            </a:r>
          </a:p>
          <a:p>
            <a:pPr lvl="1">
              <a:buFont typeface="Arial" panose="020B0604020202020204" pitchFamily="34" charset="0"/>
              <a:buChar char="•"/>
            </a:pPr>
            <a:r>
              <a:rPr lang="en-US" sz="2800" dirty="0"/>
              <a:t>Evaluates severity and emergency risk</a:t>
            </a:r>
          </a:p>
          <a:p>
            <a:pPr lvl="1">
              <a:buFont typeface="Arial" panose="020B0604020202020204" pitchFamily="34" charset="0"/>
              <a:buChar char="•"/>
            </a:pPr>
            <a:r>
              <a:rPr lang="en-US" sz="2800" dirty="0"/>
              <a:t>Provides medical description and safety precautions</a:t>
            </a:r>
          </a:p>
          <a:p>
            <a:pPr lvl="1">
              <a:buFont typeface="Arial" panose="020B0604020202020204" pitchFamily="34" charset="0"/>
              <a:buChar char="•"/>
            </a:pPr>
            <a:r>
              <a:rPr lang="en-US" sz="2800" dirty="0"/>
              <a:t>Recommends appropriate medicines with substitutes</a:t>
            </a:r>
          </a:p>
          <a:p>
            <a:pPr lvl="1">
              <a:buFont typeface="Arial" panose="020B0604020202020204" pitchFamily="34" charset="0"/>
              <a:buChar char="•"/>
            </a:pPr>
            <a:r>
              <a:rPr lang="en-US" sz="2800" dirty="0"/>
              <a:t>Assists in early health awareness and decision-making</a:t>
            </a:r>
          </a:p>
          <a:p>
            <a:pPr lvl="1"/>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0614F04E-6F49-1ECF-2A47-F63BBF04A3AC}"/>
              </a:ext>
            </a:extLst>
          </p:cNvPr>
          <p:cNvSpPr>
            <a:spLocks noGrp="1" noChangeArrowheads="1"/>
          </p:cNvSpPr>
          <p:nvPr>
            <p:ph idx="1"/>
          </p:nvPr>
        </p:nvSpPr>
        <p:spPr bwMode="auto">
          <a:xfrm>
            <a:off x="450429" y="1780856"/>
            <a:ext cx="11291141" cy="329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05435" indent="-305435" defTabSz="914400">
              <a:buNone/>
            </a:pPr>
            <a:r>
              <a:rPr lang="en-US" sz="3200" dirty="0">
                <a:solidFill>
                  <a:schemeClr val="tx1"/>
                </a:solidFill>
                <a:latin typeface="Times New Roman" panose="02020603050405020304" pitchFamily="18" charset="0"/>
                <a:ea typeface="+mn-lt"/>
                <a:cs typeface="Times New Roman" panose="02020603050405020304" pitchFamily="18" charset="0"/>
              </a:rPr>
              <a:t>The system follows a </a:t>
            </a:r>
            <a:r>
              <a:rPr lang="en-US" sz="3200" b="1" dirty="0">
                <a:solidFill>
                  <a:schemeClr val="tx1"/>
                </a:solidFill>
                <a:latin typeface="Times New Roman" panose="02020603050405020304" pitchFamily="18" charset="0"/>
                <a:ea typeface="+mn-lt"/>
                <a:cs typeface="Times New Roman" panose="02020603050405020304" pitchFamily="18" charset="0"/>
              </a:rPr>
              <a:t>web-based AI architecture</a:t>
            </a:r>
            <a:r>
              <a:rPr lang="en-US" sz="3200" dirty="0">
                <a:solidFill>
                  <a:schemeClr val="tx1"/>
                </a:solidFill>
                <a:latin typeface="Times New Roman" panose="02020603050405020304" pitchFamily="18" charset="0"/>
                <a:ea typeface="+mn-lt"/>
                <a:cs typeface="Times New Roman" panose="020206030504050203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p>
            <a:pPr lvl="1" defTabSz="914400">
              <a:spcBef>
                <a:spcPct val="0"/>
              </a:spcBef>
              <a:spcAft>
                <a:spcPct val="0"/>
              </a:spcAft>
              <a:buClrTx/>
              <a:buSzTx/>
              <a:buFont typeface="Arial" panose="020B0604020202020204" pitchFamily="34" charset="0"/>
              <a:buChar char="•"/>
            </a:pPr>
            <a:r>
              <a:rPr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selects symptoms via a web interface</a:t>
            </a:r>
          </a:p>
          <a:p>
            <a:pPr lvl="1" defTabSz="914400">
              <a:spcBef>
                <a:spcPct val="0"/>
              </a:spcBef>
              <a:spcAft>
                <a:spcPct val="0"/>
              </a:spcAft>
              <a:buClrTx/>
              <a:buSzTx/>
              <a:buFont typeface="Arial" panose="020B0604020202020204" pitchFamily="34" charset="0"/>
              <a:buChar char="•"/>
            </a:pPr>
            <a:r>
              <a:rPr lang="en-US" altLang="en-US" sz="2800" dirty="0">
                <a:solidFill>
                  <a:schemeClr val="tx1"/>
                </a:solidFill>
                <a:latin typeface="Times New Roman" panose="02020603050405020304" pitchFamily="18" charset="0"/>
                <a:cs typeface="Times New Roman" panose="02020603050405020304" pitchFamily="18" charset="0"/>
              </a:rPr>
              <a:t>Machine Learning model predicts disease</a:t>
            </a:r>
          </a:p>
          <a:p>
            <a:pPr lvl="1" defTabSz="914400">
              <a:spcBef>
                <a:spcPct val="0"/>
              </a:spcBef>
              <a:spcAft>
                <a:spcPct val="0"/>
              </a:spcAft>
              <a:buClrTx/>
              <a:buSzTx/>
              <a:buFont typeface="Arial" panose="020B0604020202020204" pitchFamily="34" charset="0"/>
              <a:buChar char="•"/>
            </a:pPr>
            <a:r>
              <a:rPr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Severity scoring engine evaluates risk</a:t>
            </a:r>
          </a:p>
          <a:p>
            <a:pPr lvl="1" defTabSz="914400">
              <a:spcBef>
                <a:spcPct val="0"/>
              </a:spcBef>
              <a:spcAft>
                <a:spcPct val="0"/>
              </a:spcAft>
              <a:buClrTx/>
              <a:buSzTx/>
              <a:buFont typeface="Arial" panose="020B0604020202020204" pitchFamily="34" charset="0"/>
              <a:buChar char="•"/>
            </a:pPr>
            <a:r>
              <a:rPr lang="en-US" altLang="en-US" sz="2800" dirty="0">
                <a:solidFill>
                  <a:schemeClr val="tx1"/>
                </a:solidFill>
                <a:latin typeface="Times New Roman" panose="02020603050405020304" pitchFamily="18" charset="0"/>
                <a:cs typeface="Times New Roman" panose="02020603050405020304" pitchFamily="18" charset="0"/>
              </a:rPr>
              <a:t>Knowledge base provides disease description and precautions</a:t>
            </a:r>
          </a:p>
          <a:p>
            <a:pPr lvl="1" defTabSz="914400">
              <a:spcBef>
                <a:spcPct val="0"/>
              </a:spcBef>
              <a:spcAft>
                <a:spcPct val="0"/>
              </a:spcAft>
              <a:buClrTx/>
              <a:buSzTx/>
              <a:buFont typeface="Arial" panose="020B0604020202020204" pitchFamily="34" charset="0"/>
              <a:buChar char="•"/>
            </a:pPr>
            <a:r>
              <a:rPr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Medicine recommendation </a:t>
            </a:r>
            <a:r>
              <a:rPr lang="en-US" altLang="en-US" sz="2800" dirty="0">
                <a:solidFill>
                  <a:schemeClr val="tx1"/>
                </a:solidFill>
                <a:latin typeface="Times New Roman" panose="02020603050405020304" pitchFamily="18" charset="0"/>
                <a:cs typeface="Times New Roman" panose="02020603050405020304" pitchFamily="18" charset="0"/>
              </a:rPr>
              <a:t>module suggests treatment</a:t>
            </a:r>
          </a:p>
          <a:p>
            <a:pPr lvl="1" defTabSz="914400">
              <a:spcBef>
                <a:spcPct val="0"/>
              </a:spcBef>
              <a:spcAft>
                <a:spcPct val="0"/>
              </a:spcAft>
              <a:buClrTx/>
              <a:buSzTx/>
              <a:buFont typeface="Arial" panose="020B0604020202020204" pitchFamily="34" charset="0"/>
              <a:buChar char="•"/>
            </a:pPr>
            <a:r>
              <a:rPr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displayed in real time using </a:t>
            </a:r>
            <a:r>
              <a:rPr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a:t>
            </a:r>
            <a:r>
              <a:rPr lang="en-US" altLang="en-US" sz="2800" dirty="0" err="1">
                <a:solidFill>
                  <a:schemeClr val="tx1"/>
                </a:solidFill>
                <a:latin typeface="Times New Roman" panose="02020603050405020304" pitchFamily="18" charset="0"/>
                <a:cs typeface="Times New Roman" panose="02020603050405020304" pitchFamily="18" charset="0"/>
              </a:rPr>
              <a:t>eamlit</a:t>
            </a:r>
            <a:endParaRPr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581192" y="4489837"/>
            <a:ext cx="110282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4BCBF325-9638-4092-3C6E-7EC033521045}"/>
              </a:ext>
            </a:extLst>
          </p:cNvPr>
          <p:cNvSpPr txBox="1"/>
          <p:nvPr/>
        </p:nvSpPr>
        <p:spPr>
          <a:xfrm>
            <a:off x="354904" y="1232452"/>
            <a:ext cx="7143207" cy="53860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Algorithm Steps:</a:t>
            </a:r>
          </a:p>
          <a:p>
            <a:pPr marL="514350" indent="-514350">
              <a:buFont typeface="+mj-lt"/>
              <a:buAutoNum type="arabicPeriod"/>
            </a:pPr>
            <a:r>
              <a:rPr lang="en-US" sz="2400" dirty="0"/>
              <a:t>Accept multiple symptoms from user</a:t>
            </a:r>
          </a:p>
          <a:p>
            <a:pPr marL="514350" indent="-514350">
              <a:buFont typeface="+mj-lt"/>
              <a:buAutoNum type="arabicPeriod"/>
            </a:pPr>
            <a:r>
              <a:rPr lang="en-US" sz="2400" dirty="0"/>
              <a:t>Preprocess and vectorize symptoms</a:t>
            </a:r>
          </a:p>
          <a:p>
            <a:pPr marL="514350" indent="-514350">
              <a:buFont typeface="+mj-lt"/>
              <a:buAutoNum type="arabicPeriod"/>
            </a:pPr>
            <a:r>
              <a:rPr lang="en-US" sz="2400" dirty="0"/>
              <a:t>Predict disease using trained ML model</a:t>
            </a:r>
          </a:p>
          <a:p>
            <a:pPr marL="971550" lvl="1" indent="-514350">
              <a:buFont typeface="Arial" panose="020B0604020202020204" pitchFamily="34" charset="0"/>
              <a:buChar char="•"/>
            </a:pPr>
            <a:r>
              <a:rPr lang="en-US" sz="2400" dirty="0"/>
              <a:t>Model: Multiclass Classification using Scikit-learn</a:t>
            </a:r>
          </a:p>
          <a:p>
            <a:pPr marL="971550" lvl="1" indent="-514350">
              <a:buFont typeface="Arial" panose="020B0604020202020204" pitchFamily="34" charset="0"/>
              <a:buChar char="•"/>
            </a:pPr>
            <a:r>
              <a:rPr lang="en-US" sz="2400" dirty="0"/>
              <a:t>Vectorization: TF-IDF</a:t>
            </a:r>
          </a:p>
          <a:p>
            <a:pPr marL="514350" indent="-514350">
              <a:buFont typeface="+mj-lt"/>
              <a:buAutoNum type="arabicPeriod"/>
            </a:pPr>
            <a:r>
              <a:rPr lang="en-US" sz="2400" dirty="0"/>
              <a:t>Calculate severity score using symptom weights</a:t>
            </a:r>
          </a:p>
          <a:p>
            <a:pPr marL="514350" indent="-514350">
              <a:buFont typeface="+mj-lt"/>
              <a:buAutoNum type="arabicPeriod"/>
            </a:pPr>
            <a:r>
              <a:rPr lang="en-US" sz="2400" dirty="0"/>
              <a:t>Classify risk level (Low, Moderate, High, Critical)</a:t>
            </a:r>
          </a:p>
          <a:p>
            <a:pPr marL="514350" indent="-514350">
              <a:buFont typeface="+mj-lt"/>
              <a:buAutoNum type="arabicPeriod"/>
            </a:pPr>
            <a:r>
              <a:rPr lang="en-US" sz="2400" dirty="0"/>
              <a:t>Retrieve disease description and precautions</a:t>
            </a:r>
          </a:p>
          <a:p>
            <a:pPr marL="514350" indent="-514350">
              <a:buFont typeface="+mj-lt"/>
              <a:buAutoNum type="arabicPeriod"/>
            </a:pPr>
            <a:r>
              <a:rPr lang="en-US" sz="2400" dirty="0"/>
              <a:t>Recommend suitable medicines and substitutes</a:t>
            </a:r>
            <a:endParaRPr lang="en-US" sz="2400" b="1" dirty="0"/>
          </a:p>
          <a:p>
            <a:r>
              <a:rPr lang="en-US" sz="2800" b="1" dirty="0"/>
              <a:t>Deployment:</a:t>
            </a:r>
          </a:p>
          <a:p>
            <a:pPr marL="228600" indent="-228600">
              <a:buFont typeface=""/>
              <a:buChar char="•"/>
            </a:pPr>
            <a:r>
              <a:rPr lang="en-US" sz="2400" dirty="0"/>
              <a:t>Developed using Python &amp; </a:t>
            </a:r>
            <a:r>
              <a:rPr lang="en-US" sz="2400" dirty="0" err="1"/>
              <a:t>Streamlit</a:t>
            </a:r>
            <a:endParaRPr lang="en-US" sz="2400" dirty="0"/>
          </a:p>
          <a:p>
            <a:pPr marL="228600" indent="-228600">
              <a:buFont typeface=""/>
              <a:buChar char="•"/>
            </a:pPr>
            <a:r>
              <a:rPr lang="en-US" sz="2400" dirty="0"/>
              <a:t>Runs locally or can be deployed on cloud platforms</a:t>
            </a:r>
            <a:endParaRPr lang="en-US" dirty="0"/>
          </a:p>
        </p:txBody>
      </p:sp>
      <p:pic>
        <p:nvPicPr>
          <p:cNvPr id="8" name="Picture 7">
            <a:extLst>
              <a:ext uri="{FF2B5EF4-FFF2-40B4-BE49-F238E27FC236}">
                <a16:creationId xmlns:a16="http://schemas.microsoft.com/office/drawing/2014/main" id="{EFA0611A-5A1D-1952-2CE3-8D0381EAC70E}"/>
              </a:ext>
            </a:extLst>
          </p:cNvPr>
          <p:cNvPicPr>
            <a:picLocks noChangeAspect="1"/>
          </p:cNvPicPr>
          <p:nvPr/>
        </p:nvPicPr>
        <p:blipFill>
          <a:blip r:embed="rId2"/>
          <a:stretch>
            <a:fillRect/>
          </a:stretch>
        </p:blipFill>
        <p:spPr>
          <a:xfrm>
            <a:off x="7352138" y="1232452"/>
            <a:ext cx="4483593" cy="5081405"/>
          </a:xfrm>
          <a:prstGeom prst="rect">
            <a:avLst/>
          </a:prstGeom>
        </p:spPr>
      </p:pic>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DATASETS USED</a:t>
            </a:r>
            <a:endParaRPr lang="en-US" dirty="0"/>
          </a:p>
        </p:txBody>
      </p:sp>
      <p:sp>
        <p:nvSpPr>
          <p:cNvPr id="6" name="Content Placeholder 5">
            <a:extLst>
              <a:ext uri="{FF2B5EF4-FFF2-40B4-BE49-F238E27FC236}">
                <a16:creationId xmlns:a16="http://schemas.microsoft.com/office/drawing/2014/main" id="{A5ED62CF-40A3-266C-F771-CFB64C117AD8}"/>
              </a:ext>
            </a:extLst>
          </p:cNvPr>
          <p:cNvSpPr>
            <a:spLocks noGrp="1"/>
          </p:cNvSpPr>
          <p:nvPr>
            <p:ph idx="1"/>
          </p:nvPr>
        </p:nvSpPr>
        <p:spPr>
          <a:xfrm>
            <a:off x="488426" y="1310999"/>
            <a:ext cx="11029615" cy="4236002"/>
          </a:xfrm>
        </p:spPr>
        <p:txBody>
          <a:bodyPr>
            <a:normAutofit/>
          </a:bodyPr>
          <a:lstStyle/>
          <a:p>
            <a:pPr>
              <a:buFont typeface="Wingdings" panose="05000000000000000000" pitchFamily="2" charset="2"/>
              <a:buChar char="Ø"/>
            </a:pPr>
            <a:r>
              <a:rPr lang="en-US" sz="2800" dirty="0"/>
              <a:t>Disease-Symptom Dataset</a:t>
            </a:r>
          </a:p>
          <a:p>
            <a:pPr>
              <a:buFont typeface="Wingdings" panose="05000000000000000000" pitchFamily="2" charset="2"/>
              <a:buChar char="Ø"/>
            </a:pPr>
            <a:r>
              <a:rPr lang="en-US" sz="2800" dirty="0"/>
              <a:t>Symptom Severity Dataset</a:t>
            </a:r>
          </a:p>
          <a:p>
            <a:pPr>
              <a:buFont typeface="Wingdings" panose="05000000000000000000" pitchFamily="2" charset="2"/>
              <a:buChar char="Ø"/>
            </a:pPr>
            <a:r>
              <a:rPr lang="en-US" sz="2800" dirty="0"/>
              <a:t>Disease Description Dataset</a:t>
            </a:r>
          </a:p>
          <a:p>
            <a:pPr>
              <a:buFont typeface="Wingdings" panose="05000000000000000000" pitchFamily="2" charset="2"/>
              <a:buChar char="Ø"/>
            </a:pPr>
            <a:r>
              <a:rPr lang="en-US" sz="2800" dirty="0"/>
              <a:t>Precaution Dataset</a:t>
            </a:r>
          </a:p>
          <a:p>
            <a:pPr>
              <a:buFont typeface="Wingdings" panose="05000000000000000000" pitchFamily="2" charset="2"/>
              <a:buChar char="Ø"/>
            </a:pPr>
            <a:r>
              <a:rPr lang="en-US" sz="2800" dirty="0"/>
              <a:t>Medicine Usage &amp; </a:t>
            </a:r>
            <a:r>
              <a:rPr lang="en-US" sz="2800" b="1" dirty="0"/>
              <a:t>Slide Effect </a:t>
            </a:r>
            <a:r>
              <a:rPr lang="en-US" sz="2800" dirty="0"/>
              <a:t>Dataset</a:t>
            </a:r>
          </a:p>
        </p:txBody>
      </p:sp>
    </p:spTree>
    <p:extLst>
      <p:ext uri="{BB962C8B-B14F-4D97-AF65-F5344CB8AC3E}">
        <p14:creationId xmlns:p14="http://schemas.microsoft.com/office/powerpoint/2010/main" val="1352220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3" name="Rectangle 1">
            <a:extLst>
              <a:ext uri="{FF2B5EF4-FFF2-40B4-BE49-F238E27FC236}">
                <a16:creationId xmlns:a16="http://schemas.microsoft.com/office/drawing/2014/main" id="{EACDFCCA-3998-2A0E-AE71-80AFE8A15F7F}"/>
              </a:ext>
            </a:extLst>
          </p:cNvPr>
          <p:cNvSpPr>
            <a:spLocks noGrp="1" noChangeArrowheads="1"/>
          </p:cNvSpPr>
          <p:nvPr>
            <p:ph idx="1"/>
          </p:nvPr>
        </p:nvSpPr>
        <p:spPr bwMode="auto">
          <a:xfrm>
            <a:off x="581192" y="1326957"/>
            <a:ext cx="10638385" cy="3715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buClrTx/>
              <a:buSzTx/>
              <a:buFont typeface="Wingdings" panose="05000000000000000000" pitchFamily="2" charset="2"/>
              <a:buChar char="v"/>
            </a:pPr>
            <a:endParaRPr lang="en-US" sz="2800" b="1" dirty="0">
              <a:solidFill>
                <a:srgbClr val="404040"/>
              </a:solidFill>
              <a:latin typeface="Franklin Gothic Book"/>
              <a:cs typeface="Arial" panose="020B0604020202020204" pitchFamily="34" charset="0"/>
            </a:endParaRPr>
          </a:p>
          <a:p>
            <a:pPr algn="just" defTabSz="914400">
              <a:buClr>
                <a:srgbClr val="1CADE4"/>
              </a:buClr>
              <a:buFont typeface="Wingdings" panose="05000000000000000000" pitchFamily="2" charset="2"/>
              <a:buChar char="v"/>
            </a:pPr>
            <a:r>
              <a:rPr lang="en-US" sz="2800" dirty="0"/>
              <a:t>Accurate disease prediction for common illnesses</a:t>
            </a:r>
          </a:p>
          <a:p>
            <a:pPr algn="just" defTabSz="914400">
              <a:buClr>
                <a:srgbClr val="1CADE4"/>
              </a:buClr>
              <a:buFont typeface="Wingdings" panose="05000000000000000000" pitchFamily="2" charset="2"/>
              <a:buChar char="v"/>
            </a:pPr>
            <a:r>
              <a:rPr lang="en-US" sz="2800" dirty="0">
                <a:solidFill>
                  <a:schemeClr val="tx1"/>
                </a:solidFill>
                <a:ea typeface="+mn-lt"/>
                <a:cs typeface="+mn-lt"/>
              </a:rPr>
              <a:t>Correct severity classification</a:t>
            </a:r>
            <a:endParaRPr lang="en-US" sz="2800" dirty="0">
              <a:solidFill>
                <a:schemeClr val="tx1"/>
              </a:solidFill>
            </a:endParaRPr>
          </a:p>
          <a:p>
            <a:pPr algn="just" defTabSz="914400">
              <a:buClr>
                <a:srgbClr val="1CADE4"/>
              </a:buClr>
              <a:buFont typeface="Wingdings" panose="05000000000000000000" pitchFamily="2" charset="2"/>
              <a:buChar char="v"/>
            </a:pPr>
            <a:r>
              <a:rPr lang="en-US" sz="2800" b="1" dirty="0">
                <a:solidFill>
                  <a:schemeClr val="tx1"/>
                </a:solidFill>
                <a:ea typeface="+mn-lt"/>
                <a:cs typeface="+mn-lt"/>
              </a:rPr>
              <a:t>Real time </a:t>
            </a:r>
            <a:r>
              <a:rPr lang="en-US" sz="2800" dirty="0">
                <a:solidFill>
                  <a:schemeClr val="tx1"/>
                </a:solidFill>
                <a:ea typeface="+mn-lt"/>
                <a:cs typeface="+mn-lt"/>
              </a:rPr>
              <a:t>response through web interface</a:t>
            </a:r>
            <a:endParaRPr lang="en-US" sz="1600" dirty="0">
              <a:solidFill>
                <a:schemeClr val="tx1"/>
              </a:solidFill>
              <a:latin typeface="Arial" panose="020B0604020202020204" pitchFamily="34" charset="0"/>
              <a:ea typeface="+mn-lt"/>
              <a:cs typeface="Arial"/>
            </a:endParaRPr>
          </a:p>
          <a:p>
            <a:pPr algn="just" defTabSz="914400">
              <a:buClr>
                <a:srgbClr val="1CADE4"/>
              </a:buClr>
              <a:buFont typeface="Wingdings" panose="05000000000000000000" pitchFamily="2" charset="2"/>
              <a:buChar char="v"/>
            </a:pPr>
            <a:r>
              <a:rPr lang="en-US" sz="2800" dirty="0">
                <a:solidFill>
                  <a:schemeClr val="tx1"/>
                </a:solidFill>
                <a:ea typeface="+mn-lt"/>
                <a:cs typeface="Arial"/>
              </a:rPr>
              <a:t>Medicine suggestions with side-effect awareness</a:t>
            </a:r>
          </a:p>
          <a:p>
            <a:pPr algn="just" defTabSz="914400">
              <a:buClr>
                <a:srgbClr val="1CADE4"/>
              </a:buClr>
              <a:buFont typeface="Wingdings" panose="05000000000000000000" pitchFamily="2" charset="2"/>
              <a:buChar char="v"/>
            </a:pPr>
            <a:r>
              <a:rPr lang="en-US" sz="2800" dirty="0">
                <a:solidFill>
                  <a:schemeClr val="tx1"/>
                </a:solidFill>
                <a:ea typeface="+mn-lt"/>
                <a:cs typeface="Arial"/>
              </a:rPr>
              <a:t>User-friendly and professional clinical dashboard</a:t>
            </a:r>
            <a:endParaRPr lang="en-US" sz="2800" dirty="0">
              <a:solidFill>
                <a:schemeClr val="tx1"/>
              </a:solidFill>
              <a:ea typeface="+mn-lt"/>
              <a:cs typeface="+mn-lt"/>
            </a:endParaRPr>
          </a:p>
        </p:txBody>
      </p:sp>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0" indent="0">
              <a:buNone/>
            </a:pPr>
            <a:r>
              <a:rPr lang="en-US" sz="2800" dirty="0"/>
              <a:t>The project successfully demonstrates how Machine Learning and Medical Knowledge Bases can be combined to build an intelligent healthcare assistant.</a:t>
            </a:r>
            <a:br>
              <a:rPr lang="en-US" sz="2800" dirty="0"/>
            </a:br>
            <a:r>
              <a:rPr lang="en-US" sz="2800" dirty="0"/>
              <a:t>It provides early disease prediction, severity analysis, and treatment guidance, supporting timely medical decisions.</a:t>
            </a:r>
          </a:p>
          <a:p>
            <a:pPr marL="0" indent="0">
              <a:buNone/>
            </a:pPr>
            <a:r>
              <a:rPr lang="en-US" sz="2800" dirty="0"/>
              <a:t>This project highlights the potential of AI in creating accessible and human-centered </a:t>
            </a:r>
            <a:r>
              <a:rPr lang="en-US" sz="2800" b="1" dirty="0"/>
              <a:t>clinical decision support solutions (CDSS).</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879786" y="1945547"/>
            <a:ext cx="928596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a:lnSpc>
                <a:spcPct val="100000"/>
              </a:lnSpc>
              <a:spcBef>
                <a:spcPct val="0"/>
              </a:spcBef>
              <a:spcAft>
                <a:spcPct val="0"/>
              </a:spcAft>
              <a:buClrTx/>
              <a:buSzTx/>
              <a:buFontTx/>
              <a:buChar char="•"/>
              <a:tabLst/>
            </a:pPr>
            <a:r>
              <a:rPr lang="en-US" sz="3000" dirty="0">
                <a:latin typeface="Times New Roman" panose="02020603050405020304" pitchFamily="18" charset="0"/>
                <a:cs typeface="Times New Roman" panose="02020603050405020304" pitchFamily="18" charset="0"/>
              </a:rPr>
              <a:t>Deep Learning models for higher accuracy</a:t>
            </a:r>
          </a:p>
          <a:p>
            <a:pPr marL="0" marR="0" lvl="0" indent="0" algn="l" defTabSz="914400">
              <a:lnSpc>
                <a:spcPct val="100000"/>
              </a:lnSpc>
              <a:spcBef>
                <a:spcPct val="0"/>
              </a:spcBef>
              <a:spcAft>
                <a:spcPct val="0"/>
              </a:spcAft>
              <a:buClrTx/>
              <a:buSzTx/>
              <a:buFontTx/>
              <a:buChar char="•"/>
              <a:tabLst/>
            </a:pPr>
            <a:r>
              <a:rPr lang="en-US" altLang="en-US" sz="3000" b="0" i="0" u="none" strike="noStrike" cap="none" normalizeH="0" baseline="0" dirty="0">
                <a:ln>
                  <a:noFill/>
                </a:ln>
                <a:effectLst/>
                <a:latin typeface="Times New Roman" panose="02020603050405020304" pitchFamily="18" charset="0"/>
                <a:cs typeface="Times New Roman" panose="02020603050405020304" pitchFamily="18" charset="0"/>
              </a:rPr>
              <a:t> Medical image analysis (X-ray, MRI)</a:t>
            </a:r>
          </a:p>
          <a:p>
            <a:pPr marL="0" marR="0" lvl="0" indent="0" algn="l" defTabSz="914400">
              <a:lnSpc>
                <a:spcPct val="100000"/>
              </a:lnSpc>
              <a:spcBef>
                <a:spcPct val="0"/>
              </a:spcBef>
              <a:spcAft>
                <a:spcPct val="0"/>
              </a:spcAft>
              <a:buClrTx/>
              <a:buSzTx/>
              <a:buFontTx/>
              <a:buChar char="•"/>
              <a:tabLst/>
            </a:pPr>
            <a:r>
              <a:rPr lang="en-US" altLang="en-US" sz="3000" dirty="0">
                <a:latin typeface="Times New Roman" panose="02020603050405020304" pitchFamily="18" charset="0"/>
                <a:cs typeface="Times New Roman" panose="02020603050405020304" pitchFamily="18" charset="0"/>
              </a:rPr>
              <a:t> Voice-based symptom input</a:t>
            </a:r>
          </a:p>
          <a:p>
            <a:pPr marL="0" marR="0" lvl="0" indent="0" algn="l" defTabSz="914400">
              <a:lnSpc>
                <a:spcPct val="100000"/>
              </a:lnSpc>
              <a:spcBef>
                <a:spcPct val="0"/>
              </a:spcBef>
              <a:spcAft>
                <a:spcPct val="0"/>
              </a:spcAft>
              <a:buClrTx/>
              <a:buSzTx/>
              <a:buFontTx/>
              <a:buChar char="•"/>
              <a:tabLst/>
            </a:pPr>
            <a:r>
              <a:rPr lang="en-US" altLang="en-US" sz="3000" b="0" i="0" u="none" strike="noStrike" cap="none" normalizeH="0" baseline="0" dirty="0">
                <a:ln>
                  <a:noFill/>
                </a:ln>
                <a:effectLst/>
                <a:latin typeface="Times New Roman" panose="02020603050405020304" pitchFamily="18" charset="0"/>
                <a:cs typeface="Times New Roman" panose="02020603050405020304" pitchFamily="18" charset="0"/>
              </a:rPr>
              <a:t> Patient history tracking</a:t>
            </a:r>
          </a:p>
          <a:p>
            <a:pPr marL="0" marR="0" lvl="0" indent="0" algn="l" defTabSz="914400">
              <a:lnSpc>
                <a:spcPct val="100000"/>
              </a:lnSpc>
              <a:spcBef>
                <a:spcPct val="0"/>
              </a:spcBef>
              <a:spcAft>
                <a:spcPct val="0"/>
              </a:spcAft>
              <a:buClrTx/>
              <a:buSzTx/>
              <a:buFontTx/>
              <a:buChar char="•"/>
              <a:tabLst/>
            </a:pPr>
            <a:r>
              <a:rPr lang="en-US" altLang="en-US" sz="3000" dirty="0">
                <a:latin typeface="Times New Roman" panose="02020603050405020304" pitchFamily="18" charset="0"/>
                <a:cs typeface="Times New Roman" panose="02020603050405020304" pitchFamily="18" charset="0"/>
              </a:rPr>
              <a:t> Drug interaction detection</a:t>
            </a:r>
          </a:p>
          <a:p>
            <a:pPr marL="0" marR="0" lvl="0" indent="0" algn="l" defTabSz="914400">
              <a:lnSpc>
                <a:spcPct val="100000"/>
              </a:lnSpc>
              <a:spcBef>
                <a:spcPct val="0"/>
              </a:spcBef>
              <a:spcAft>
                <a:spcPct val="0"/>
              </a:spcAft>
              <a:buClrTx/>
              <a:buSzTx/>
              <a:buFontTx/>
              <a:buChar char="•"/>
              <a:tabLst/>
            </a:pPr>
            <a:r>
              <a:rPr lang="en-US" altLang="en-US" sz="3000" b="0" i="0" u="none" strike="noStrike" cap="none" normalizeH="0" baseline="0" dirty="0">
                <a:ln>
                  <a:noFill/>
                </a:ln>
                <a:effectLst/>
                <a:latin typeface="Times New Roman" panose="02020603050405020304" pitchFamily="18" charset="0"/>
                <a:cs typeface="Times New Roman" panose="02020603050405020304" pitchFamily="18" charset="0"/>
              </a:rPr>
              <a:t> Mobile application development</a:t>
            </a:r>
          </a:p>
        </p:txBody>
      </p:sp>
    </p:spTree>
    <p:extLst>
      <p:ext uri="{BB962C8B-B14F-4D97-AF65-F5344CB8AC3E}">
        <p14:creationId xmlns:p14="http://schemas.microsoft.com/office/powerpoint/2010/main" val="614882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3" name="TextBox 2">
            <a:extLst>
              <a:ext uri="{FF2B5EF4-FFF2-40B4-BE49-F238E27FC236}">
                <a16:creationId xmlns:a16="http://schemas.microsoft.com/office/drawing/2014/main" id="{FFC18EB1-98DF-5C95-A95E-3E28E4018E37}"/>
              </a:ext>
            </a:extLst>
          </p:cNvPr>
          <p:cNvSpPr txBox="1"/>
          <p:nvPr/>
        </p:nvSpPr>
        <p:spPr>
          <a:xfrm>
            <a:off x="822975" y="1228951"/>
            <a:ext cx="10244275"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Kaggle Datasets</a:t>
            </a:r>
          </a:p>
          <a:p>
            <a:pPr marL="971550" lvl="1" indent="-514350">
              <a:buFont typeface="+mj-lt"/>
              <a:buAutoNum type="arabicPeriod"/>
            </a:pPr>
            <a:r>
              <a:rPr lang="en-US" sz="3200" dirty="0">
                <a:latin typeface="Times New Roman" panose="02020603050405020304" pitchFamily="18" charset="0"/>
                <a:cs typeface="Times New Roman" panose="02020603050405020304" pitchFamily="18" charset="0"/>
                <a:hlinkClick r:id="rId2"/>
              </a:rPr>
              <a:t>Disease Symptom Prediction </a:t>
            </a:r>
            <a:endParaRPr lang="en-US" sz="3200"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sz="3200" dirty="0">
                <a:latin typeface="Times New Roman" panose="02020603050405020304" pitchFamily="18" charset="0"/>
                <a:cs typeface="Times New Roman" panose="02020603050405020304" pitchFamily="18" charset="0"/>
                <a:hlinkClick r:id="rId3"/>
              </a:rPr>
              <a:t>250k Medicines Usage, Side Effects and Substitutes</a:t>
            </a:r>
            <a:endParaRPr lang="en-US" sz="32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hlinkClick r:id="rId4"/>
              </a:rPr>
              <a:t>Scikit-learn Documentation</a:t>
            </a:r>
            <a:endParaRPr lang="en-US" sz="32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Char char="•"/>
            </a:pPr>
            <a:r>
              <a:rPr lang="en-US" sz="3200" dirty="0" err="1">
                <a:latin typeface="Times New Roman" panose="02020603050405020304" pitchFamily="18" charset="0"/>
                <a:cs typeface="Times New Roman" panose="02020603050405020304" pitchFamily="18" charset="0"/>
                <a:hlinkClick r:id="rId5"/>
              </a:rPr>
              <a:t>Streamlit</a:t>
            </a:r>
            <a:r>
              <a:rPr lang="en-US" sz="3200" dirty="0">
                <a:latin typeface="Times New Roman" panose="02020603050405020304" pitchFamily="18" charset="0"/>
                <a:cs typeface="Times New Roman" panose="02020603050405020304" pitchFamily="18" charset="0"/>
                <a:hlinkClick r:id="rId5"/>
              </a:rPr>
              <a:t> Documentation</a:t>
            </a:r>
            <a:endParaRPr lang="en-US" sz="32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hlinkClick r:id="rId6"/>
              </a:rPr>
              <a:t>WHO Symptom &amp; Disease Resources</a:t>
            </a:r>
            <a:endParaRPr lang="en-US" sz="32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hlinkClick r:id="rId7"/>
              </a:rPr>
              <a:t>Research Papers on Clinical Decision Support Systems (CDSS)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8950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err="1"/>
              <a:t>Github</a:t>
            </a:r>
            <a:r>
              <a:rPr lang="en-US"/>
              <a:t> link</a:t>
            </a:r>
            <a:endParaRPr lang="en-IN"/>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pPr marL="305435" indent="-305435"/>
            <a:r>
              <a:rPr lang="en-IN" sz="2800" dirty="0" err="1"/>
              <a:t>Github</a:t>
            </a:r>
            <a:r>
              <a:rPr lang="en-IN" sz="2800" dirty="0"/>
              <a:t> Link : </a:t>
            </a:r>
            <a:r>
              <a:rPr lang="en-IN" sz="2800" dirty="0">
                <a:hlinkClick r:id="rId2"/>
              </a:rPr>
              <a:t>https://github.com/Rafkhan01/AI-healthcare-system.git</a:t>
            </a:r>
            <a:endParaRPr lang="en-US" sz="2800" dirty="0"/>
          </a:p>
          <a:p>
            <a:pPr marL="305435" indent="-305435"/>
            <a:r>
              <a:rPr lang="en-IN" sz="2800" dirty="0"/>
              <a:t>Deployment Link: </a:t>
            </a:r>
            <a:r>
              <a:rPr lang="en-IN" sz="2800" dirty="0">
                <a:hlinkClick r:id="rId3"/>
              </a:rPr>
              <a:t>https://ai-healthcare-system-jaqgrqbayym7wsnbmvr4kf.streamlit.app/</a:t>
            </a:r>
            <a:endParaRPr lang="en-IN" sz="2800" b="1" dirty="0">
              <a:solidFill>
                <a:srgbClr val="4493F8"/>
              </a:solidFill>
              <a:highlight>
                <a:srgbClr val="0D1117"/>
              </a:highlight>
              <a:ea typeface="+mn-lt"/>
              <a:cs typeface="+mn-lt"/>
            </a:endParaRPr>
          </a:p>
        </p:txBody>
      </p:sp>
    </p:spTree>
    <p:extLst>
      <p:ext uri="{BB962C8B-B14F-4D97-AF65-F5344CB8AC3E}">
        <p14:creationId xmlns:p14="http://schemas.microsoft.com/office/powerpoint/2010/main" val="1995909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214</TotalTime>
  <Words>475</Words>
  <Application>Microsoft Office PowerPoint</Application>
  <PresentationFormat>Widescreen</PresentationFormat>
  <Paragraphs>88</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Calibri Light</vt:lpstr>
      <vt:lpstr>Franklin Gothic Book</vt:lpstr>
      <vt:lpstr>Franklin Gothic Demi</vt:lpstr>
      <vt:lpstr>Times New Roman</vt:lpstr>
      <vt:lpstr>Wingdings</vt:lpstr>
      <vt:lpstr>Wingdings 2</vt:lpstr>
      <vt:lpstr>DividendVTI</vt:lpstr>
      <vt:lpstr>AI-Based SYMPTOM SEVERITY ANALYZER &amp; INTELLIGENT MEDICINE RECOMMENDATION SYSTEM</vt:lpstr>
      <vt:lpstr>OUTLINE</vt:lpstr>
      <vt:lpstr>Problem Statement</vt:lpstr>
      <vt:lpstr>Proposed Solution</vt:lpstr>
      <vt:lpstr>System  Approach</vt:lpstr>
      <vt:lpstr>Algorithm &amp; Deployment</vt:lpstr>
      <vt:lpstr>DATASETS USED</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rafkhanb0@gmail.com</cp:lastModifiedBy>
  <cp:revision>14</cp:revision>
  <dcterms:created xsi:type="dcterms:W3CDTF">2021-05-26T16:50:10Z</dcterms:created>
  <dcterms:modified xsi:type="dcterms:W3CDTF">2026-01-15T13:14:59Z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